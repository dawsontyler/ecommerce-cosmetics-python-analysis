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0bf3947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0bf3947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0bf39471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0bf39471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0bf39471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0bf39471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70bf39471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70bf39471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0bf39471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0bf39471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0bf394718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0bf394718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0bf39471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0bf39471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70bf39471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70bf39471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0bf39471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70bf39471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166425" y="449550"/>
            <a:ext cx="7142400" cy="1493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iw" u="sng">
                <a:solidFill>
                  <a:srgbClr val="674EA7"/>
                </a:solidFill>
              </a:rPr>
              <a:t>E-COMMERCE  COSMETICS STORE</a:t>
            </a:r>
            <a:endParaRPr b="1" u="sng">
              <a:solidFill>
                <a:srgbClr val="674EA7"/>
              </a:solidFill>
            </a:endParaRPr>
          </a:p>
        </p:txBody>
      </p:sp>
      <p:sp>
        <p:nvSpPr>
          <p:cNvPr id="55" name="Google Shape;55;p13"/>
          <p:cNvSpPr txBox="1"/>
          <p:nvPr>
            <p:ph idx="1" type="subTitle"/>
          </p:nvPr>
        </p:nvSpPr>
        <p:spPr>
          <a:xfrm>
            <a:off x="311700" y="2571750"/>
            <a:ext cx="8520600" cy="127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w"/>
              <a:t>Student: Tyler Dawson</a:t>
            </a:r>
            <a:br>
              <a:rPr lang="iw"/>
            </a:br>
            <a:r>
              <a:rPr lang="iw"/>
              <a:t>Date of analysis : 25/7/25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b="1" lang="iw">
                <a:solidFill>
                  <a:srgbClr val="674EA7"/>
                </a:solidFill>
              </a:rPr>
              <a:t>רקע כללי ודרישות:</a:t>
            </a:r>
            <a:endParaRPr b="1">
              <a:solidFill>
                <a:srgbClr val="674EA7"/>
              </a:solidFill>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23850" lvl="0" marL="457200" rtl="1" algn="r">
              <a:spcBef>
                <a:spcPts val="0"/>
              </a:spcBef>
              <a:spcAft>
                <a:spcPts val="0"/>
              </a:spcAft>
              <a:buSzPts val="1500"/>
              <a:buChar char="●"/>
            </a:pPr>
            <a:r>
              <a:rPr lang="iw" sz="1500"/>
              <a:t>בסיס הנתונים עליו בוצע התחקור והשאילתות הוא בסיס של חנות אינטרנטית המוכרת מוצרי קוסמטיקה ועוקבת אחרי כל ההזמנות שנעשו בנסיון להגיע ליעול ומיקוד פעילות. </a:t>
            </a:r>
            <a:endParaRPr sz="1500"/>
          </a:p>
          <a:p>
            <a:pPr indent="0" lvl="0" marL="457200" rtl="1" algn="r">
              <a:spcBef>
                <a:spcPts val="1200"/>
              </a:spcBef>
              <a:spcAft>
                <a:spcPts val="0"/>
              </a:spcAft>
              <a:buNone/>
            </a:pPr>
            <a:r>
              <a:t/>
            </a:r>
            <a:endParaRPr sz="1500"/>
          </a:p>
          <a:p>
            <a:pPr indent="-323850" lvl="0" marL="457200" rtl="1" algn="r">
              <a:spcBef>
                <a:spcPts val="1200"/>
              </a:spcBef>
              <a:spcAft>
                <a:spcPts val="0"/>
              </a:spcAft>
              <a:buSzPts val="1500"/>
              <a:buChar char="●"/>
            </a:pPr>
            <a:r>
              <a:rPr lang="iw" sz="1500"/>
              <a:t>הניתוח והתחקור באו לראות ולחקור את הקשר בין זמני השנה, המיקום הגיאוגרפי והסוג לקוח השונה ביחס לכמות המכירות והרווחיות במוצרים והקטגריות השונות בכל הזמנה.</a:t>
            </a:r>
            <a:endParaRPr sz="1500"/>
          </a:p>
          <a:p>
            <a:pPr indent="0" lvl="0" marL="457200" rtl="1" algn="r">
              <a:spcBef>
                <a:spcPts val="1200"/>
              </a:spcBef>
              <a:spcAft>
                <a:spcPts val="0"/>
              </a:spcAft>
              <a:buNone/>
            </a:pPr>
            <a:r>
              <a:t/>
            </a:r>
            <a:endParaRPr sz="1500"/>
          </a:p>
          <a:p>
            <a:pPr indent="-323850" lvl="0" marL="457200" rtl="1" algn="r">
              <a:spcBef>
                <a:spcPts val="1200"/>
              </a:spcBef>
              <a:spcAft>
                <a:spcPts val="0"/>
              </a:spcAft>
              <a:buSzPts val="1500"/>
              <a:buChar char="●"/>
            </a:pPr>
            <a:r>
              <a:rPr lang="iw" sz="1500"/>
              <a:t>הניתוח נעשה על טווח של 4 שנים, מתחילת שנת 2020 ועד סוף שנת  2023.</a:t>
            </a:r>
            <a:endParaRPr sz="1500"/>
          </a:p>
          <a:p>
            <a:pPr indent="0" lvl="0" marL="0" rtl="1" algn="r">
              <a:spcBef>
                <a:spcPts val="1200"/>
              </a:spcBef>
              <a:spcAft>
                <a:spcPts val="0"/>
              </a:spcAft>
              <a:buNone/>
            </a:pPr>
            <a:r>
              <a:t/>
            </a:r>
            <a:endParaRPr/>
          </a:p>
          <a:p>
            <a:pPr indent="0" lvl="0" marL="0" rtl="1" algn="r">
              <a:spcBef>
                <a:spcPts val="1200"/>
              </a:spcBef>
              <a:spcAft>
                <a:spcPts val="1200"/>
              </a:spcAft>
              <a:buNone/>
            </a:pPr>
            <a:r>
              <a:rPr lang="iw"/>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28650"/>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b="1" lang="iw">
                <a:solidFill>
                  <a:srgbClr val="674EA7"/>
                </a:solidFill>
              </a:rPr>
              <a:t>הנחות בסיס -</a:t>
            </a:r>
            <a:endParaRPr b="1">
              <a:solidFill>
                <a:srgbClr val="674EA7"/>
              </a:solidFill>
            </a:endParaRPr>
          </a:p>
        </p:txBody>
      </p:sp>
      <p:sp>
        <p:nvSpPr>
          <p:cNvPr id="67" name="Google Shape;67;p15"/>
          <p:cNvSpPr txBox="1"/>
          <p:nvPr>
            <p:ph idx="1" type="body"/>
          </p:nvPr>
        </p:nvSpPr>
        <p:spPr>
          <a:xfrm>
            <a:off x="311700" y="831650"/>
            <a:ext cx="8520600" cy="4725600"/>
          </a:xfrm>
          <a:prstGeom prst="rect">
            <a:avLst/>
          </a:prstGeom>
        </p:spPr>
        <p:txBody>
          <a:bodyPr anchorCtr="0" anchor="t" bIns="91425" lIns="91425" spcFirstLastPara="1" rIns="91425" wrap="square" tIns="91425">
            <a:spAutoFit/>
          </a:bodyPr>
          <a:lstStyle/>
          <a:p>
            <a:pPr indent="-310146" lvl="0" marL="457200" rtl="1" algn="r">
              <a:spcBef>
                <a:spcPts val="0"/>
              </a:spcBef>
              <a:spcAft>
                <a:spcPts val="0"/>
              </a:spcAft>
              <a:buSzPts val="1284"/>
              <a:buChar char="●"/>
            </a:pPr>
            <a:r>
              <a:rPr lang="iw" sz="1284"/>
              <a:t>הניתוח התבסס על טווח נתונים של כ-4 שנים, החל מינואר 2020 – תקופה החופפת לתחילת מגפת הקורונה. לכן, הונחה ההנחה שהיקפי ההזמנות טרם התקופה היו גבוהים יותר, אף שאין נתונים מוקדמים להשוואה, והדבר נלקח בחשבון בהערכת מגמות.</a:t>
            </a:r>
            <a:endParaRPr sz="1284"/>
          </a:p>
          <a:p>
            <a:pPr indent="-310146" lvl="0" marL="457200" rtl="1" algn="r">
              <a:spcBef>
                <a:spcPts val="0"/>
              </a:spcBef>
              <a:spcAft>
                <a:spcPts val="0"/>
              </a:spcAft>
              <a:buSzPts val="1284"/>
              <a:buChar char="●"/>
            </a:pPr>
            <a:r>
              <a:rPr lang="iw" sz="1284"/>
              <a:t>במהלך הניתוח זוהו תתי־קטגוריות ומוצרים מסוימים שהציגו רווחיות נמוכה או הפסדים נקודתיים, בעיקר בעקבות הנחות או תקופות עונתיות. עם זאת, השפעתם על הרווח הכולל נמצאה שולית ולכן לא ניתנה להם משקל מרכזי במסקנות.</a:t>
            </a:r>
            <a:endParaRPr sz="1284"/>
          </a:p>
          <a:p>
            <a:pPr indent="-310146" lvl="0" marL="457200" rtl="1" algn="r">
              <a:spcBef>
                <a:spcPts val="0"/>
              </a:spcBef>
              <a:spcAft>
                <a:spcPts val="0"/>
              </a:spcAft>
              <a:buSzPts val="1284"/>
              <a:buChar char="●"/>
            </a:pPr>
            <a:r>
              <a:rPr lang="iw" sz="1284"/>
              <a:t>חודשי נובמבר ודצמבר זוהו כחודשי שיא טבעיים בשל חגים ומבצעים עונתיים (Black Friday, Christmas, New Year), וכן חודש ספטמבר נבחן כתקופת “חזרה לשגרה” (חזרה לבתי ספר וכו’). חודשים אלה הובאו בחשבון כהקשרים עונתיים אפשריים.</a:t>
            </a:r>
            <a:endParaRPr sz="1284"/>
          </a:p>
          <a:p>
            <a:pPr indent="-310146" lvl="0" marL="457200" rtl="1" algn="r">
              <a:spcBef>
                <a:spcPts val="0"/>
              </a:spcBef>
              <a:spcAft>
                <a:spcPts val="0"/>
              </a:spcAft>
              <a:buSzPts val="1284"/>
              <a:buChar char="●"/>
            </a:pPr>
            <a:r>
              <a:rPr lang="iw" sz="1284"/>
              <a:t>מאגר הנתונים כולל מספר שורות לכל הזמנה בהתאם למוצר שנרכש, אך מאחר והניתוח התמקד ברווחיות לפי מוצר, קטגוריה וסוג לקוח — לא בוצע צמצום לפי לקוח ייחודי, אלא ניתוח כולל של כלל הפעילות.</a:t>
            </a:r>
            <a:endParaRPr sz="1284"/>
          </a:p>
          <a:p>
            <a:pPr indent="-310146" lvl="0" marL="457200" rtl="1" algn="r">
              <a:spcBef>
                <a:spcPts val="0"/>
              </a:spcBef>
              <a:spcAft>
                <a:spcPts val="0"/>
              </a:spcAft>
              <a:buSzPts val="1284"/>
              <a:buChar char="●"/>
            </a:pPr>
            <a:r>
              <a:rPr lang="iw" sz="1284"/>
              <a:t>הניתוח בוצע מתוך מטרה לזהות את מקורות הרווח המרכזיים, למקד מאמצי שיווק ותקציב, ולסייע בגיבוש המלצות עסקיות.</a:t>
            </a:r>
            <a:endParaRPr sz="1284"/>
          </a:p>
          <a:p>
            <a:pPr indent="-310146" lvl="0" marL="457200" rtl="1" algn="r">
              <a:spcBef>
                <a:spcPts val="0"/>
              </a:spcBef>
              <a:spcAft>
                <a:spcPts val="0"/>
              </a:spcAft>
              <a:buSzPts val="1284"/>
              <a:buChar char="●"/>
            </a:pPr>
            <a:r>
              <a:rPr lang="iw" sz="1284"/>
              <a:t> מוצרים הפסדיים נבדקו, אך מאחר והיקפם הכספי היה נמוך, הם לא נכללו במוקד ההמלצות.</a:t>
            </a:r>
            <a:endParaRPr sz="1284"/>
          </a:p>
          <a:p>
            <a:pPr indent="-310146" lvl="0" marL="457200" rtl="1" algn="r">
              <a:spcBef>
                <a:spcPts val="0"/>
              </a:spcBef>
              <a:spcAft>
                <a:spcPts val="0"/>
              </a:spcAft>
              <a:buSzPts val="1284"/>
              <a:buChar char="●"/>
            </a:pPr>
            <a:r>
              <a:rPr lang="iw" sz="1284"/>
              <a:t>לבסוף, חשוב לציין כי מדובר בדאטה מדומה לצורכי פרויקט, ועשויים להופיע בו אי־דיוקים כגון שיוך כפול של מוצר ליותר מקטגוריה אחת או מבנים לא ריאליים.</a:t>
            </a:r>
            <a:endParaRPr sz="1284"/>
          </a:p>
          <a:p>
            <a:pPr indent="0" lvl="0" marL="0" rtl="1" algn="r">
              <a:spcBef>
                <a:spcPts val="1200"/>
              </a:spcBef>
              <a:spcAft>
                <a:spcPts val="0"/>
              </a:spcAft>
              <a:buNone/>
            </a:pPr>
            <a:r>
              <a:t/>
            </a:r>
            <a:endParaRPr sz="2984"/>
          </a:p>
          <a:p>
            <a:pPr indent="0" lvl="0" marL="0" rtl="1" algn="r">
              <a:spcBef>
                <a:spcPts val="1200"/>
              </a:spcBef>
              <a:spcAft>
                <a:spcPts val="0"/>
              </a:spcAft>
              <a:buNone/>
            </a:pPr>
            <a:r>
              <a:t/>
            </a:r>
            <a:endParaRPr/>
          </a:p>
          <a:p>
            <a:pPr indent="0" lvl="0" marL="0" rtl="1" algn="r">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37100"/>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b="1" lang="iw">
                <a:solidFill>
                  <a:srgbClr val="674EA7"/>
                </a:solidFill>
              </a:rPr>
              <a:t>ניתוח ראשוני של הדאטה</a:t>
            </a:r>
            <a:endParaRPr b="1">
              <a:solidFill>
                <a:srgbClr val="674EA7"/>
              </a:solidFill>
            </a:endParaRPr>
          </a:p>
        </p:txBody>
      </p:sp>
      <p:sp>
        <p:nvSpPr>
          <p:cNvPr id="73" name="Google Shape;73;p16"/>
          <p:cNvSpPr txBox="1"/>
          <p:nvPr>
            <p:ph idx="1" type="body"/>
          </p:nvPr>
        </p:nvSpPr>
        <p:spPr>
          <a:xfrm>
            <a:off x="1202250" y="809800"/>
            <a:ext cx="7630200" cy="4164300"/>
          </a:xfrm>
          <a:prstGeom prst="rect">
            <a:avLst/>
          </a:prstGeom>
        </p:spPr>
        <p:txBody>
          <a:bodyPr anchorCtr="0" anchor="t" bIns="91425" lIns="91425" spcFirstLastPara="1" rIns="91425" wrap="square" tIns="91425">
            <a:spAutoFit/>
          </a:bodyPr>
          <a:lstStyle/>
          <a:p>
            <a:pPr indent="0" lvl="0" marL="0" rtl="1" algn="r">
              <a:spcBef>
                <a:spcPts val="1200"/>
              </a:spcBef>
              <a:spcAft>
                <a:spcPts val="0"/>
              </a:spcAft>
              <a:buNone/>
            </a:pPr>
            <a:r>
              <a:rPr lang="iw" sz="1100"/>
              <a:t>לאחר בחינת הדאטה, בוצעה גישת ניתוח ממוקדת במטרה להבין את מאפייני הנתונים, לזהות מגמות ולהנגיש תובנות עסקיות באופן ברור ויעיל. </a:t>
            </a:r>
            <a:endParaRPr sz="1100"/>
          </a:p>
          <a:p>
            <a:pPr indent="0" lvl="0" marL="0" rtl="1" algn="r">
              <a:spcBef>
                <a:spcPts val="1200"/>
              </a:spcBef>
              <a:spcAft>
                <a:spcPts val="0"/>
              </a:spcAft>
              <a:buClr>
                <a:schemeClr val="dk1"/>
              </a:buClr>
              <a:buSzPts val="1100"/>
              <a:buFont typeface="Arial"/>
              <a:buNone/>
            </a:pPr>
            <a:r>
              <a:rPr lang="iw" sz="1100"/>
              <a:t>במסגרת ניתוח ראשוני זה:</a:t>
            </a:r>
            <a:endParaRPr sz="1100"/>
          </a:p>
          <a:p>
            <a:pPr indent="-298450" lvl="0" marL="457200" rtl="1" algn="r">
              <a:spcBef>
                <a:spcPts val="1200"/>
              </a:spcBef>
              <a:spcAft>
                <a:spcPts val="0"/>
              </a:spcAft>
              <a:buSzPts val="1100"/>
              <a:buChar char="●"/>
            </a:pPr>
            <a:r>
              <a:rPr lang="iw" sz="1100"/>
              <a:t>בוצעה בדיקה של ממדי הדאטה – מספר השורות, לקוחות, הזמנות וטווח התאריכים. </a:t>
            </a:r>
            <a:endParaRPr sz="1100"/>
          </a:p>
          <a:p>
            <a:pPr indent="-298450" lvl="0" marL="457200" rtl="1" algn="r">
              <a:spcBef>
                <a:spcPts val="0"/>
              </a:spcBef>
              <a:spcAft>
                <a:spcPts val="0"/>
              </a:spcAft>
              <a:buSzPts val="1100"/>
              <a:buChar char="●"/>
            </a:pPr>
            <a:r>
              <a:rPr lang="iw" sz="1100"/>
              <a:t>הוגדרו שדות מרכזיים לניתוח: תאריך הזמנה, קטגוריה, תת־קטגוריה, מוצר, סגמנט לקוח, מדינה, מכירות, רווח, הנחה וכמות. </a:t>
            </a:r>
            <a:endParaRPr sz="1100"/>
          </a:p>
          <a:p>
            <a:pPr indent="-298450" lvl="0" marL="457200" rtl="1" algn="r">
              <a:spcBef>
                <a:spcPts val="0"/>
              </a:spcBef>
              <a:spcAft>
                <a:spcPts val="0"/>
              </a:spcAft>
              <a:buSzPts val="1100"/>
              <a:buChar char="●"/>
            </a:pPr>
            <a:r>
              <a:rPr lang="iw" sz="1100"/>
              <a:t>לא זוהו ערכים חסרים מהותיים, אך ישנם אי־דיוקים מסוימים עקב אופי הדאטה הסינתטי (למשל שיוך מוצר ליותר מתת־קטגוריה אחת). </a:t>
            </a:r>
            <a:endParaRPr sz="1100"/>
          </a:p>
          <a:p>
            <a:pPr indent="-298450" lvl="0" marL="457200" rtl="1" algn="r">
              <a:spcBef>
                <a:spcPts val="0"/>
              </a:spcBef>
              <a:spcAft>
                <a:spcPts val="0"/>
              </a:spcAft>
              <a:buSzPts val="1100"/>
              <a:buChar char="●"/>
            </a:pPr>
            <a:r>
              <a:rPr lang="iw" sz="1100"/>
              <a:t>בוצעה חלוקה ללקוחות לפי סוג סגמנט ולמוצרים לפי קטגוריות עיקריות לצורך המשך הניתוח.</a:t>
            </a:r>
            <a:endParaRPr sz="1100"/>
          </a:p>
          <a:p>
            <a:pPr indent="-298450" lvl="0" marL="457200" rtl="1" algn="r">
              <a:spcBef>
                <a:spcPts val="0"/>
              </a:spcBef>
              <a:spcAft>
                <a:spcPts val="0"/>
              </a:spcAft>
              <a:buSzPts val="1100"/>
              <a:buChar char="●"/>
            </a:pPr>
            <a:r>
              <a:rPr lang="iw" sz="1100"/>
              <a:t> נבחנו רמות פעילות ורווחיות לפי זמן, מדינה וסגמנט על מנת לזהות מקורות הכנסה חזקים לעומת אזורים לא רווחיים. </a:t>
            </a:r>
            <a:endParaRPr sz="1100"/>
          </a:p>
          <a:p>
            <a:pPr indent="-298450" lvl="0" marL="457200" rtl="1" algn="r">
              <a:spcBef>
                <a:spcPts val="0"/>
              </a:spcBef>
              <a:spcAft>
                <a:spcPts val="0"/>
              </a:spcAft>
              <a:buSzPts val="1100"/>
              <a:buChar char="●"/>
            </a:pPr>
            <a:r>
              <a:rPr lang="iw" sz="1100"/>
              <a:t>בוצעה בחינה גם של הנחות ומוצרים שהניבו הפסדים – אך אלה נמצאו בעלי השפעה שולית בלבד.</a:t>
            </a:r>
            <a:endParaRPr sz="1100"/>
          </a:p>
          <a:p>
            <a:pPr indent="0" lvl="0" marL="0" rtl="1" algn="r">
              <a:spcBef>
                <a:spcPts val="1200"/>
              </a:spcBef>
              <a:spcAft>
                <a:spcPts val="0"/>
              </a:spcAft>
              <a:buClr>
                <a:schemeClr val="dk1"/>
              </a:buClr>
              <a:buSzPts val="1100"/>
              <a:buFont typeface="Arial"/>
              <a:buNone/>
            </a:pPr>
            <a:r>
              <a:rPr lang="iw" sz="1100"/>
              <a:t>הניתוח הראשוני אפשר הבנה טובה יותר של מבנה הדאטה ואיפשר דיוק בבחירת כיווני העומק להמשך.</a:t>
            </a:r>
            <a:endParaRPr sz="1100"/>
          </a:p>
          <a:p>
            <a:pPr indent="0" lvl="0" marL="0" rtl="0" algn="r">
              <a:spcBef>
                <a:spcPts val="1200"/>
              </a:spcBef>
              <a:spcAft>
                <a:spcPts val="0"/>
              </a:spcAft>
              <a:buClr>
                <a:schemeClr val="dk1"/>
              </a:buClr>
              <a:buSzPts val="1100"/>
              <a:buFont typeface="Arial"/>
              <a:buNone/>
            </a:pPr>
            <a:r>
              <a:t/>
            </a:r>
            <a:endParaRPr/>
          </a:p>
          <a:p>
            <a:pPr indent="0" lvl="0" marL="0" rtl="0" algn="r">
              <a:spcBef>
                <a:spcPts val="1200"/>
              </a:spcBef>
              <a:spcAft>
                <a:spcPts val="0"/>
              </a:spcAft>
              <a:buNone/>
            </a:pPr>
            <a:r>
              <a:t/>
            </a:r>
            <a:endParaRPr/>
          </a:p>
          <a:p>
            <a:pPr indent="0" lvl="0" marL="0" rtl="0" algn="r">
              <a:spcBef>
                <a:spcPts val="1200"/>
              </a:spcBef>
              <a:spcAft>
                <a:spcPts val="1200"/>
              </a:spcAft>
              <a:buNone/>
            </a:pPr>
            <a:r>
              <a:t/>
            </a:r>
            <a:endParaRPr/>
          </a:p>
        </p:txBody>
      </p:sp>
      <p:pic>
        <p:nvPicPr>
          <p:cNvPr id="74" name="Google Shape;74;p16" title="Screenshot 2025-07-22 at 15.41.37.png"/>
          <p:cNvPicPr preferRelativeResize="0"/>
          <p:nvPr/>
        </p:nvPicPr>
        <p:blipFill>
          <a:blip r:embed="rId3">
            <a:alphaModFix/>
          </a:blip>
          <a:stretch>
            <a:fillRect/>
          </a:stretch>
        </p:blipFill>
        <p:spPr>
          <a:xfrm>
            <a:off x="48325" y="3651975"/>
            <a:ext cx="3196875" cy="1374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126550"/>
            <a:ext cx="8520600" cy="4710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iw">
                <a:solidFill>
                  <a:srgbClr val="674EA7"/>
                </a:solidFill>
              </a:rPr>
              <a:t>ריווחיות לפי תת-קטגוריה:</a:t>
            </a:r>
            <a:r>
              <a:rPr lang="iw"/>
              <a:t> </a:t>
            </a:r>
            <a:endParaRPr/>
          </a:p>
          <a:p>
            <a:pPr indent="-311150" lvl="0" marL="457200" rtl="1" algn="r">
              <a:spcBef>
                <a:spcPts val="1200"/>
              </a:spcBef>
              <a:spcAft>
                <a:spcPts val="0"/>
              </a:spcAft>
              <a:buSzPts val="1300"/>
              <a:buChar char="●"/>
            </a:pPr>
            <a:r>
              <a:rPr lang="iw" sz="1300"/>
              <a:t>תתי־הקטגוריות הרווחיות ביותר – כגון מוצרי ציפורניים, עפרונות עיניים, מוצרי לחות לפנים ותוספים – הניבו רווח כולל מצטבר של מעל 700 אלף $.</a:t>
            </a:r>
            <a:endParaRPr sz="1300"/>
          </a:p>
          <a:p>
            <a:pPr indent="-311150" lvl="0" marL="457200" rtl="1" algn="r">
              <a:spcBef>
                <a:spcPts val="0"/>
              </a:spcBef>
              <a:spcAft>
                <a:spcPts val="0"/>
              </a:spcAft>
              <a:buSzPts val="1300"/>
              <a:buChar char="●"/>
            </a:pPr>
            <a:r>
              <a:rPr lang="iw" sz="1300"/>
              <a:t>בממוצע, רווח להזמנה בתתי־קטגוריות אלו נע סביב 40–45 $, מה שממחיש לא רק את ההיקף אלא גם את הרווחיות ליחידה.</a:t>
            </a:r>
            <a:endParaRPr sz="1300"/>
          </a:p>
          <a:p>
            <a:pPr indent="-311150" lvl="0" marL="457200" rtl="1" algn="r">
              <a:spcBef>
                <a:spcPts val="0"/>
              </a:spcBef>
              <a:spcAft>
                <a:spcPts val="0"/>
              </a:spcAft>
              <a:buSzPts val="1300"/>
              <a:buChar char="●"/>
            </a:pPr>
            <a:r>
              <a:rPr lang="iw" sz="1300"/>
              <a:t>תתי קטגוריות כמו בשמים ומברשות הניבו הפסדים, בעיקר עקב הנחות גבוהות או רווחיות נמוכה מאוד – אך ההשפעה על הרווח הכולל מאוד שולית.</a:t>
            </a:r>
            <a:endParaRPr sz="1300"/>
          </a:p>
          <a:p>
            <a:pPr indent="0" lvl="0" marL="457200" rtl="1" algn="r">
              <a:spcBef>
                <a:spcPts val="1200"/>
              </a:spcBef>
              <a:spcAft>
                <a:spcPts val="0"/>
              </a:spcAft>
              <a:buNone/>
            </a:pPr>
            <a:r>
              <a:t/>
            </a:r>
            <a:endParaRPr/>
          </a:p>
          <a:p>
            <a:pPr indent="0" lvl="0" marL="0" rtl="1" algn="r">
              <a:spcBef>
                <a:spcPts val="1200"/>
              </a:spcBef>
              <a:spcAft>
                <a:spcPts val="1200"/>
              </a:spcAft>
              <a:buNone/>
            </a:pPr>
            <a:r>
              <a:t/>
            </a:r>
            <a:endParaRPr/>
          </a:p>
        </p:txBody>
      </p:sp>
      <p:pic>
        <p:nvPicPr>
          <p:cNvPr id="80" name="Google Shape;80;p17"/>
          <p:cNvPicPr preferRelativeResize="0"/>
          <p:nvPr/>
        </p:nvPicPr>
        <p:blipFill>
          <a:blip r:embed="rId3">
            <a:alphaModFix/>
          </a:blip>
          <a:stretch>
            <a:fillRect/>
          </a:stretch>
        </p:blipFill>
        <p:spPr>
          <a:xfrm>
            <a:off x="4494450" y="1925425"/>
            <a:ext cx="4546299" cy="2698200"/>
          </a:xfrm>
          <a:prstGeom prst="rect">
            <a:avLst/>
          </a:prstGeom>
          <a:noFill/>
          <a:ln>
            <a:noFill/>
          </a:ln>
        </p:spPr>
      </p:pic>
      <p:sp>
        <p:nvSpPr>
          <p:cNvPr id="81" name="Google Shape;81;p17"/>
          <p:cNvSpPr txBox="1"/>
          <p:nvPr/>
        </p:nvSpPr>
        <p:spPr>
          <a:xfrm>
            <a:off x="63175" y="4004500"/>
            <a:ext cx="4629300" cy="692700"/>
          </a:xfrm>
          <a:prstGeom prst="rect">
            <a:avLst/>
          </a:prstGeom>
          <a:noFill/>
          <a:ln>
            <a:noFill/>
          </a:ln>
        </p:spPr>
        <p:txBody>
          <a:bodyPr anchorCtr="0" anchor="t" bIns="91425" lIns="91425" spcFirstLastPara="1" rIns="91425" wrap="square" tIns="91425">
            <a:spAutoFit/>
          </a:bodyPr>
          <a:lstStyle/>
          <a:p>
            <a:pPr indent="-298450" lvl="0" marL="457200" rtl="1" algn="r">
              <a:spcBef>
                <a:spcPts val="0"/>
              </a:spcBef>
              <a:spcAft>
                <a:spcPts val="0"/>
              </a:spcAft>
              <a:buClr>
                <a:schemeClr val="dk2"/>
              </a:buClr>
              <a:buSzPts val="1100"/>
              <a:buChar char="●"/>
            </a:pPr>
            <a:r>
              <a:rPr lang="iw" sz="1100">
                <a:solidFill>
                  <a:schemeClr val="dk2"/>
                </a:solidFill>
              </a:rPr>
              <a:t>בגרף להלן ניתן לראות את ההבדלים המשמעותיים ובין התתי קטגריות ואף עד כמה התתי קטגריות ההפסדיות לא משמעותיות בתמונה הרחבה של החנות אך ניתן לצמצום.</a:t>
            </a:r>
            <a:endParaRPr sz="11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idx="1" type="body"/>
          </p:nvPr>
        </p:nvSpPr>
        <p:spPr>
          <a:xfrm>
            <a:off x="311700" y="153675"/>
            <a:ext cx="8520600" cy="47331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Clr>
                <a:schemeClr val="dk1"/>
              </a:buClr>
              <a:buSzPts val="1100"/>
              <a:buFont typeface="Arial"/>
              <a:buNone/>
            </a:pPr>
            <a:r>
              <a:rPr b="1" lang="iw">
                <a:solidFill>
                  <a:srgbClr val="674EA7"/>
                </a:solidFill>
              </a:rPr>
              <a:t>מוצרים ריווחיים:</a:t>
            </a:r>
            <a:endParaRPr b="1">
              <a:solidFill>
                <a:srgbClr val="674EA7"/>
              </a:solidFill>
            </a:endParaRPr>
          </a:p>
          <a:p>
            <a:pPr indent="-311150" lvl="0" marL="457200" rtl="1" algn="r">
              <a:spcBef>
                <a:spcPts val="1200"/>
              </a:spcBef>
              <a:spcAft>
                <a:spcPts val="0"/>
              </a:spcAft>
              <a:buSzPts val="1300"/>
              <a:buAutoNum type="arabicPeriod"/>
            </a:pPr>
            <a:r>
              <a:rPr lang="iw" sz="1300"/>
              <a:t>מתוך 3577 מוצרים 250 המוצרים הרווחיים ביותר ייצרו רווח כולל של מאות אלפי דולרים ו41% מסך כל הרווחים, ומכך מהווים פוטנציאל קידום משמעותי ומאוד ספציפי. </a:t>
            </a:r>
            <a:endParaRPr sz="1300"/>
          </a:p>
          <a:p>
            <a:pPr indent="-311150" lvl="0" marL="457200" rtl="1" algn="r">
              <a:spcBef>
                <a:spcPts val="0"/>
              </a:spcBef>
              <a:spcAft>
                <a:spcPts val="0"/>
              </a:spcAft>
              <a:buSzPts val="1300"/>
              <a:buAutoNum type="arabicPeriod"/>
            </a:pPr>
            <a:r>
              <a:rPr lang="iw" sz="1300"/>
              <a:t>המוצרים שהניבו הפסדים נבדקו אך לא השפיעו באופן מהותי על הרווח הכולל עקב זאת שהפער היה מאוד משמעותי וממש שולי לעומת התמונה הגדולה.</a:t>
            </a:r>
            <a:endParaRPr sz="1300"/>
          </a:p>
          <a:p>
            <a:pPr indent="0" lvl="0" marL="0" rtl="1" algn="r">
              <a:spcBef>
                <a:spcPts val="1200"/>
              </a:spcBef>
              <a:spcAft>
                <a:spcPts val="1200"/>
              </a:spcAft>
              <a:buNone/>
            </a:pPr>
            <a:r>
              <a:t/>
            </a:r>
            <a:endParaRPr/>
          </a:p>
        </p:txBody>
      </p:sp>
      <p:pic>
        <p:nvPicPr>
          <p:cNvPr id="87" name="Google Shape;87;p18"/>
          <p:cNvPicPr preferRelativeResize="0"/>
          <p:nvPr/>
        </p:nvPicPr>
        <p:blipFill>
          <a:blip r:embed="rId3">
            <a:alphaModFix/>
          </a:blip>
          <a:stretch>
            <a:fillRect/>
          </a:stretch>
        </p:blipFill>
        <p:spPr>
          <a:xfrm>
            <a:off x="4472550" y="1766125"/>
            <a:ext cx="4359751" cy="2518625"/>
          </a:xfrm>
          <a:prstGeom prst="rect">
            <a:avLst/>
          </a:prstGeom>
          <a:noFill/>
          <a:ln>
            <a:noFill/>
          </a:ln>
        </p:spPr>
      </p:pic>
      <p:sp>
        <p:nvSpPr>
          <p:cNvPr id="88" name="Google Shape;88;p18"/>
          <p:cNvSpPr txBox="1"/>
          <p:nvPr/>
        </p:nvSpPr>
        <p:spPr>
          <a:xfrm>
            <a:off x="3633875" y="4284750"/>
            <a:ext cx="5107500" cy="692700"/>
          </a:xfrm>
          <a:prstGeom prst="rect">
            <a:avLst/>
          </a:prstGeom>
          <a:noFill/>
          <a:ln>
            <a:noFill/>
          </a:ln>
        </p:spPr>
        <p:txBody>
          <a:bodyPr anchorCtr="0" anchor="t" bIns="91425" lIns="91425" spcFirstLastPara="1" rIns="91425" wrap="square" tIns="91425">
            <a:spAutoFit/>
          </a:bodyPr>
          <a:lstStyle/>
          <a:p>
            <a:pPr indent="-298450" lvl="0" marL="457200" rtl="1" algn="r">
              <a:spcBef>
                <a:spcPts val="0"/>
              </a:spcBef>
              <a:spcAft>
                <a:spcPts val="0"/>
              </a:spcAft>
              <a:buClr>
                <a:schemeClr val="dk2"/>
              </a:buClr>
              <a:buSzPts val="1100"/>
              <a:buChar char="●"/>
            </a:pPr>
            <a:r>
              <a:rPr lang="iw" sz="1100">
                <a:solidFill>
                  <a:schemeClr val="dk2"/>
                </a:solidFill>
              </a:rPr>
              <a:t>בגרף A.1 ניתן לראות את ה20 המוצרים הכי מרוויחים כאשר הראשון עם רווח עצמאי של $9000 ואחריו עוד 19 מוצרים שהניבו בין 7 ל3750$ לאורך ה3 שנים האלה</a:t>
            </a:r>
            <a:endParaRPr sz="1100">
              <a:solidFill>
                <a:schemeClr val="dk2"/>
              </a:solidFill>
            </a:endParaRPr>
          </a:p>
        </p:txBody>
      </p:sp>
      <p:pic>
        <p:nvPicPr>
          <p:cNvPr id="89" name="Google Shape;89;p18"/>
          <p:cNvPicPr preferRelativeResize="0"/>
          <p:nvPr/>
        </p:nvPicPr>
        <p:blipFill>
          <a:blip r:embed="rId4">
            <a:alphaModFix/>
          </a:blip>
          <a:stretch>
            <a:fillRect/>
          </a:stretch>
        </p:blipFill>
        <p:spPr>
          <a:xfrm>
            <a:off x="311700" y="1572875"/>
            <a:ext cx="3602424" cy="2138025"/>
          </a:xfrm>
          <a:prstGeom prst="rect">
            <a:avLst/>
          </a:prstGeom>
          <a:noFill/>
          <a:ln>
            <a:noFill/>
          </a:ln>
        </p:spPr>
      </p:pic>
      <p:sp>
        <p:nvSpPr>
          <p:cNvPr id="90" name="Google Shape;90;p18"/>
          <p:cNvSpPr txBox="1"/>
          <p:nvPr/>
        </p:nvSpPr>
        <p:spPr>
          <a:xfrm>
            <a:off x="8670000" y="4113000"/>
            <a:ext cx="474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w" sz="1100">
                <a:solidFill>
                  <a:schemeClr val="dk2"/>
                </a:solidFill>
              </a:rPr>
              <a:t>A.1</a:t>
            </a:r>
            <a:endParaRPr b="1" sz="1100">
              <a:solidFill>
                <a:schemeClr val="dk2"/>
              </a:solidFill>
            </a:endParaRPr>
          </a:p>
        </p:txBody>
      </p:sp>
      <p:sp>
        <p:nvSpPr>
          <p:cNvPr id="91" name="Google Shape;91;p18"/>
          <p:cNvSpPr txBox="1"/>
          <p:nvPr/>
        </p:nvSpPr>
        <p:spPr>
          <a:xfrm>
            <a:off x="3823725" y="3479450"/>
            <a:ext cx="43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w" sz="1200">
                <a:solidFill>
                  <a:schemeClr val="dk2"/>
                </a:solidFill>
              </a:rPr>
              <a:t>A.2</a:t>
            </a:r>
            <a:endParaRPr b="1" sz="1200">
              <a:solidFill>
                <a:schemeClr val="dk2"/>
              </a:solidFill>
            </a:endParaRPr>
          </a:p>
        </p:txBody>
      </p:sp>
      <p:sp>
        <p:nvSpPr>
          <p:cNvPr id="92" name="Google Shape;92;p18"/>
          <p:cNvSpPr txBox="1"/>
          <p:nvPr/>
        </p:nvSpPr>
        <p:spPr>
          <a:xfrm>
            <a:off x="311713" y="3653075"/>
            <a:ext cx="3602400" cy="692700"/>
          </a:xfrm>
          <a:prstGeom prst="rect">
            <a:avLst/>
          </a:prstGeom>
          <a:noFill/>
          <a:ln>
            <a:noFill/>
          </a:ln>
        </p:spPr>
        <p:txBody>
          <a:bodyPr anchorCtr="0" anchor="t" bIns="91425" lIns="91425" spcFirstLastPara="1" rIns="91425" wrap="square" tIns="91425">
            <a:spAutoFit/>
          </a:bodyPr>
          <a:lstStyle/>
          <a:p>
            <a:pPr indent="-298450" lvl="0" marL="457200" rtl="1" algn="r">
              <a:spcBef>
                <a:spcPts val="0"/>
              </a:spcBef>
              <a:spcAft>
                <a:spcPts val="0"/>
              </a:spcAft>
              <a:buClr>
                <a:schemeClr val="dk2"/>
              </a:buClr>
              <a:buSzPts val="1100"/>
              <a:buChar char="●"/>
            </a:pPr>
            <a:r>
              <a:rPr lang="iw" sz="1100">
                <a:solidFill>
                  <a:schemeClr val="dk2"/>
                </a:solidFill>
              </a:rPr>
              <a:t>בגרף A.2 ניתן לראות את הנתח המשמעותי שה250 מוצרים הכי ריווחיים מהווים מסך כל הרווחים של החברה. </a:t>
            </a:r>
            <a:endParaRPr sz="11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idx="1" type="body"/>
          </p:nvPr>
        </p:nvSpPr>
        <p:spPr>
          <a:xfrm>
            <a:off x="311700" y="226000"/>
            <a:ext cx="8520600" cy="45831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Clr>
                <a:schemeClr val="dk1"/>
              </a:buClr>
              <a:buSzPts val="1100"/>
              <a:buFont typeface="Arial"/>
              <a:buNone/>
            </a:pPr>
            <a:r>
              <a:rPr b="1" lang="iw">
                <a:solidFill>
                  <a:srgbClr val="674EA7"/>
                </a:solidFill>
              </a:rPr>
              <a:t>ניתוח גיאוגרפי</a:t>
            </a:r>
            <a:r>
              <a:rPr b="1" lang="iw">
                <a:solidFill>
                  <a:srgbClr val="674EA7"/>
                </a:solidFill>
              </a:rPr>
              <a:t>:</a:t>
            </a:r>
            <a:r>
              <a:rPr b="1" lang="iw"/>
              <a:t> </a:t>
            </a:r>
            <a:endParaRPr b="1"/>
          </a:p>
          <a:p>
            <a:pPr indent="-311150" lvl="0" marL="457200" rtl="1" algn="r">
              <a:spcBef>
                <a:spcPts val="1200"/>
              </a:spcBef>
              <a:spcAft>
                <a:spcPts val="0"/>
              </a:spcAft>
              <a:buSzPts val="1300"/>
              <a:buAutoNum type="arabicPeriod"/>
            </a:pPr>
            <a:r>
              <a:rPr lang="iw" sz="1300"/>
              <a:t>המדינות הרווחיות ביותר מבחינת רווח כולל היו המדינות בעלות פעילות גבוהה – לדוגמה: ארהב, וצרפת ומקסיקו אחריה.</a:t>
            </a:r>
            <a:endParaRPr sz="1300"/>
          </a:p>
          <a:p>
            <a:pPr indent="-311150" lvl="0" marL="457200" rtl="1" algn="r">
              <a:spcBef>
                <a:spcPts val="0"/>
              </a:spcBef>
              <a:spcAft>
                <a:spcPts val="0"/>
              </a:spcAft>
              <a:buSzPts val="1300"/>
              <a:buAutoNum type="arabicPeriod"/>
            </a:pPr>
            <a:r>
              <a:rPr lang="iw" sz="1300"/>
              <a:t>עם זאת, מדינות מסוימות כמו: מלוואי עם $500 + ואחריה סלובניה ואלבניה עם250$ + רווח ממוצע גבוה להזמנה – מה שמעיד על קהל רווחי גם אם לא בהיקף גבוה.</a:t>
            </a:r>
            <a:endParaRPr sz="1300"/>
          </a:p>
          <a:p>
            <a:pPr indent="-311150" lvl="0" marL="457200" rtl="1" algn="r">
              <a:spcBef>
                <a:spcPts val="0"/>
              </a:spcBef>
              <a:spcAft>
                <a:spcPts val="0"/>
              </a:spcAft>
              <a:buSzPts val="1300"/>
              <a:buAutoNum type="arabicPeriod"/>
            </a:pPr>
            <a:r>
              <a:rPr lang="iw" sz="1300"/>
              <a:t>שתי הבדיקות עוזרות לזהות גם מנועי רווח מרכזיים וגם פוטנציאל צמיחה בשווקים קטנים.</a:t>
            </a:r>
            <a:endParaRPr sz="1300"/>
          </a:p>
          <a:p>
            <a:pPr indent="0" lvl="0" marL="0" rtl="1" algn="r">
              <a:spcBef>
                <a:spcPts val="1200"/>
              </a:spcBef>
              <a:spcAft>
                <a:spcPts val="1200"/>
              </a:spcAft>
              <a:buNone/>
            </a:pPr>
            <a:r>
              <a:t/>
            </a:r>
            <a:endParaRPr/>
          </a:p>
        </p:txBody>
      </p:sp>
      <p:pic>
        <p:nvPicPr>
          <p:cNvPr id="98" name="Google Shape;98;p19"/>
          <p:cNvPicPr preferRelativeResize="0"/>
          <p:nvPr/>
        </p:nvPicPr>
        <p:blipFill>
          <a:blip r:embed="rId3">
            <a:alphaModFix/>
          </a:blip>
          <a:stretch>
            <a:fillRect/>
          </a:stretch>
        </p:blipFill>
        <p:spPr>
          <a:xfrm>
            <a:off x="4094925" y="1698125"/>
            <a:ext cx="4737375" cy="2661376"/>
          </a:xfrm>
          <a:prstGeom prst="rect">
            <a:avLst/>
          </a:prstGeom>
          <a:noFill/>
          <a:ln>
            <a:noFill/>
          </a:ln>
        </p:spPr>
      </p:pic>
      <p:sp>
        <p:nvSpPr>
          <p:cNvPr id="99" name="Google Shape;99;p19"/>
          <p:cNvSpPr txBox="1"/>
          <p:nvPr/>
        </p:nvSpPr>
        <p:spPr>
          <a:xfrm>
            <a:off x="45200" y="4320875"/>
            <a:ext cx="5206800" cy="554100"/>
          </a:xfrm>
          <a:prstGeom prst="rect">
            <a:avLst/>
          </a:prstGeom>
          <a:noFill/>
          <a:ln>
            <a:noFill/>
          </a:ln>
        </p:spPr>
        <p:txBody>
          <a:bodyPr anchorCtr="0" anchor="t" bIns="91425" lIns="91425" spcFirstLastPara="1" rIns="91425" wrap="square" tIns="91425">
            <a:spAutoFit/>
          </a:bodyPr>
          <a:lstStyle/>
          <a:p>
            <a:pPr indent="-304800" lvl="0" marL="457200" rtl="1" algn="r">
              <a:spcBef>
                <a:spcPts val="0"/>
              </a:spcBef>
              <a:spcAft>
                <a:spcPts val="0"/>
              </a:spcAft>
              <a:buClr>
                <a:schemeClr val="dk2"/>
              </a:buClr>
              <a:buSzPts val="1200"/>
              <a:buChar char="●"/>
            </a:pPr>
            <a:r>
              <a:rPr lang="iw" sz="1200">
                <a:solidFill>
                  <a:schemeClr val="dk2"/>
                </a:solidFill>
              </a:rPr>
              <a:t>בגרף להלן ניתן לראות את הפילוג של ה10 מדינות הכי רווחיות עם ארהב בטופ שהניבה בפער משמעותי רווח של $207,879 במצטבר. </a:t>
            </a:r>
            <a:endParaRPr sz="12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 type="body"/>
          </p:nvPr>
        </p:nvSpPr>
        <p:spPr>
          <a:xfrm>
            <a:off x="332100" y="0"/>
            <a:ext cx="8479800" cy="43422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b="1" lang="iw" sz="1300">
                <a:solidFill>
                  <a:srgbClr val="674EA7"/>
                </a:solidFill>
              </a:rPr>
              <a:t>מגמת מכירות ורווח חודשית:</a:t>
            </a:r>
            <a:endParaRPr b="1" sz="1300">
              <a:solidFill>
                <a:srgbClr val="674EA7"/>
              </a:solidFill>
            </a:endParaRPr>
          </a:p>
          <a:p>
            <a:pPr indent="-298450" lvl="0" marL="457200" rtl="1" algn="r">
              <a:spcBef>
                <a:spcPts val="1200"/>
              </a:spcBef>
              <a:spcAft>
                <a:spcPts val="0"/>
              </a:spcAft>
              <a:buSzPts val="1100"/>
              <a:buAutoNum type="arabicPeriod"/>
            </a:pPr>
            <a:r>
              <a:rPr lang="iw" sz="1100"/>
              <a:t>בניתוח חודשי נמצא כי ישנה עלייה ברווחים והמכירות בחודשי נובמבר ודצמבר ייתכן בשל עונת החגים או מבצעים ובחודש ספטמבר שזה הוא חודש ״חזרה לעניינים״.</a:t>
            </a:r>
            <a:endParaRPr sz="1100"/>
          </a:p>
          <a:p>
            <a:pPr indent="-298450" lvl="0" marL="457200" rtl="1" algn="r">
              <a:spcBef>
                <a:spcPts val="0"/>
              </a:spcBef>
              <a:spcAft>
                <a:spcPts val="0"/>
              </a:spcAft>
              <a:buSzPts val="1100"/>
              <a:buAutoNum type="arabicPeriod"/>
            </a:pPr>
            <a:r>
              <a:rPr lang="iw" sz="1100"/>
              <a:t>חודשים כמו אפריל ומאי היו מתונים יותר, מה שעשוי להעיד על תקופה עם ביקוש נמוך יחסית.</a:t>
            </a:r>
            <a:endParaRPr sz="1100"/>
          </a:p>
          <a:p>
            <a:pPr indent="0" lvl="0" marL="0" rtl="1" algn="r">
              <a:spcBef>
                <a:spcPts val="1200"/>
              </a:spcBef>
              <a:spcAft>
                <a:spcPts val="0"/>
              </a:spcAft>
              <a:buNone/>
            </a:pPr>
            <a:r>
              <a:t/>
            </a:r>
            <a:endParaRPr sz="1200"/>
          </a:p>
          <a:p>
            <a:pPr indent="0" lvl="0" marL="0" rtl="1" algn="r">
              <a:spcBef>
                <a:spcPts val="1200"/>
              </a:spcBef>
              <a:spcAft>
                <a:spcPts val="0"/>
              </a:spcAft>
              <a:buNone/>
            </a:pPr>
            <a:r>
              <a:t/>
            </a:r>
            <a:endParaRPr sz="1200"/>
          </a:p>
          <a:p>
            <a:pPr indent="0" lvl="0" marL="0" rtl="1" algn="r">
              <a:spcBef>
                <a:spcPts val="1200"/>
              </a:spcBef>
              <a:spcAft>
                <a:spcPts val="0"/>
              </a:spcAft>
              <a:buNone/>
            </a:pPr>
            <a:r>
              <a:t/>
            </a:r>
            <a:endParaRPr sz="1200"/>
          </a:p>
          <a:p>
            <a:pPr indent="0" lvl="0" marL="0" rtl="1" algn="r">
              <a:spcBef>
                <a:spcPts val="1200"/>
              </a:spcBef>
              <a:spcAft>
                <a:spcPts val="0"/>
              </a:spcAft>
              <a:buNone/>
            </a:pPr>
            <a:r>
              <a:rPr b="1" lang="iw" sz="1300">
                <a:solidFill>
                  <a:srgbClr val="674EA7"/>
                </a:solidFill>
              </a:rPr>
              <a:t>רווח לפי סגמנט לקוח:</a:t>
            </a:r>
            <a:endParaRPr b="1" sz="1300">
              <a:solidFill>
                <a:srgbClr val="674EA7"/>
              </a:solidFill>
            </a:endParaRPr>
          </a:p>
          <a:p>
            <a:pPr indent="-298450" lvl="0" marL="457200" rtl="1" algn="r">
              <a:spcBef>
                <a:spcPts val="1200"/>
              </a:spcBef>
              <a:spcAft>
                <a:spcPts val="0"/>
              </a:spcAft>
              <a:buSzPts val="1100"/>
              <a:buAutoNum type="arabicPeriod"/>
            </a:pPr>
            <a:r>
              <a:rPr lang="iw" sz="1100"/>
              <a:t>ניתוח לפי סגמנט לקוח מראה ש"צרכנים עסקיים</a:t>
            </a:r>
            <a:r>
              <a:rPr lang="iw" sz="1100"/>
              <a:t>" (</a:t>
            </a:r>
            <a:r>
              <a:rPr lang="iw" sz="1100"/>
              <a:t>Corporate</a:t>
            </a:r>
            <a:r>
              <a:rPr lang="iw" sz="1100"/>
              <a:t>)</a:t>
            </a:r>
            <a:r>
              <a:rPr lang="iw" sz="1100"/>
              <a:t> הם הקבוצה הרווחית ביותר עם כמעט חצי מכמות הלקוחות של הצרכנים הפרטיים.</a:t>
            </a:r>
            <a:endParaRPr sz="1100"/>
          </a:p>
          <a:p>
            <a:pPr indent="-298450" lvl="0" marL="457200" rtl="1" algn="r">
              <a:spcBef>
                <a:spcPts val="0"/>
              </a:spcBef>
              <a:spcAft>
                <a:spcPts val="0"/>
              </a:spcAft>
              <a:buSzPts val="1100"/>
              <a:buAutoNum type="arabicPeriod"/>
            </a:pPr>
            <a:r>
              <a:rPr lang="iw" sz="1100"/>
              <a:t>סגמנטים כמו "פרטי" ו"עסק פרטי" תרמו פחות לרווח הכולל – מה שמעיד על מיקוד העסק בשוק B2B ולא B2C.</a:t>
            </a:r>
            <a:endParaRPr sz="1100"/>
          </a:p>
        </p:txBody>
      </p:sp>
      <p:pic>
        <p:nvPicPr>
          <p:cNvPr id="105" name="Google Shape;105;p20"/>
          <p:cNvPicPr preferRelativeResize="0"/>
          <p:nvPr/>
        </p:nvPicPr>
        <p:blipFill>
          <a:blip r:embed="rId3">
            <a:alphaModFix/>
          </a:blip>
          <a:stretch>
            <a:fillRect/>
          </a:stretch>
        </p:blipFill>
        <p:spPr>
          <a:xfrm>
            <a:off x="0" y="1029375"/>
            <a:ext cx="4853574" cy="1680475"/>
          </a:xfrm>
          <a:prstGeom prst="rect">
            <a:avLst/>
          </a:prstGeom>
          <a:noFill/>
          <a:ln>
            <a:noFill/>
          </a:ln>
        </p:spPr>
      </p:pic>
      <p:pic>
        <p:nvPicPr>
          <p:cNvPr id="106" name="Google Shape;106;p20"/>
          <p:cNvPicPr preferRelativeResize="0"/>
          <p:nvPr/>
        </p:nvPicPr>
        <p:blipFill>
          <a:blip r:embed="rId4">
            <a:alphaModFix/>
          </a:blip>
          <a:stretch>
            <a:fillRect/>
          </a:stretch>
        </p:blipFill>
        <p:spPr>
          <a:xfrm>
            <a:off x="3508625" y="3018151"/>
            <a:ext cx="5181974" cy="2125350"/>
          </a:xfrm>
          <a:prstGeom prst="rect">
            <a:avLst/>
          </a:prstGeom>
          <a:noFill/>
          <a:ln>
            <a:noFill/>
          </a:ln>
        </p:spPr>
      </p:pic>
      <p:sp>
        <p:nvSpPr>
          <p:cNvPr id="107" name="Google Shape;107;p20"/>
          <p:cNvSpPr txBox="1"/>
          <p:nvPr/>
        </p:nvSpPr>
        <p:spPr>
          <a:xfrm>
            <a:off x="3731875" y="4751875"/>
            <a:ext cx="542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w" sz="1200">
                <a:solidFill>
                  <a:schemeClr val="dk2"/>
                </a:solidFill>
              </a:rPr>
              <a:t>D.1</a:t>
            </a:r>
            <a:endParaRPr b="1" sz="1200">
              <a:solidFill>
                <a:schemeClr val="dk2"/>
              </a:solidFill>
            </a:endParaRPr>
          </a:p>
        </p:txBody>
      </p:sp>
      <p:sp>
        <p:nvSpPr>
          <p:cNvPr id="108" name="Google Shape;108;p20"/>
          <p:cNvSpPr txBox="1"/>
          <p:nvPr/>
        </p:nvSpPr>
        <p:spPr>
          <a:xfrm>
            <a:off x="0" y="2355850"/>
            <a:ext cx="542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w" sz="1100">
                <a:solidFill>
                  <a:schemeClr val="dk2"/>
                </a:solidFill>
              </a:rPr>
              <a:t>D.2</a:t>
            </a:r>
            <a:endParaRPr b="1" sz="1100">
              <a:solidFill>
                <a:schemeClr val="dk2"/>
              </a:solidFill>
            </a:endParaRPr>
          </a:p>
        </p:txBody>
      </p:sp>
      <p:sp>
        <p:nvSpPr>
          <p:cNvPr id="109" name="Google Shape;109;p20"/>
          <p:cNvSpPr txBox="1"/>
          <p:nvPr/>
        </p:nvSpPr>
        <p:spPr>
          <a:xfrm>
            <a:off x="5286575" y="1230775"/>
            <a:ext cx="2973900" cy="492600"/>
          </a:xfrm>
          <a:prstGeom prst="rect">
            <a:avLst/>
          </a:prstGeom>
          <a:noFill/>
          <a:ln>
            <a:noFill/>
          </a:ln>
        </p:spPr>
        <p:txBody>
          <a:bodyPr anchorCtr="0" anchor="t" bIns="91425" lIns="91425" spcFirstLastPara="1" rIns="91425" wrap="square" tIns="91425">
            <a:spAutoFit/>
          </a:bodyPr>
          <a:lstStyle/>
          <a:p>
            <a:pPr indent="-292100" lvl="0" marL="457200" rtl="1" algn="r">
              <a:spcBef>
                <a:spcPts val="0"/>
              </a:spcBef>
              <a:spcAft>
                <a:spcPts val="0"/>
              </a:spcAft>
              <a:buClr>
                <a:schemeClr val="dk2"/>
              </a:buClr>
              <a:buSzPts val="1000"/>
              <a:buChar char="●"/>
            </a:pPr>
            <a:r>
              <a:rPr lang="iw" sz="1000">
                <a:solidFill>
                  <a:schemeClr val="dk2"/>
                </a:solidFill>
              </a:rPr>
              <a:t>בגרף D.2 ניתן לראות את המגמה הברורה ואת חודשים 9,11,12 המובילים בכל שנה</a:t>
            </a:r>
            <a:endParaRPr sz="1000">
              <a:solidFill>
                <a:schemeClr val="dk2"/>
              </a:solidFill>
            </a:endParaRPr>
          </a:p>
        </p:txBody>
      </p:sp>
      <p:cxnSp>
        <p:nvCxnSpPr>
          <p:cNvPr id="110" name="Google Shape;110;p20"/>
          <p:cNvCxnSpPr/>
          <p:nvPr/>
        </p:nvCxnSpPr>
        <p:spPr>
          <a:xfrm>
            <a:off x="1175150" y="150960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1" name="Google Shape;111;p20"/>
          <p:cNvCxnSpPr/>
          <p:nvPr/>
        </p:nvCxnSpPr>
        <p:spPr>
          <a:xfrm>
            <a:off x="1336600" y="150960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2" name="Google Shape;112;p20"/>
          <p:cNvCxnSpPr/>
          <p:nvPr/>
        </p:nvCxnSpPr>
        <p:spPr>
          <a:xfrm>
            <a:off x="1435900" y="141665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20"/>
          <p:cNvCxnSpPr/>
          <p:nvPr/>
        </p:nvCxnSpPr>
        <p:spPr>
          <a:xfrm>
            <a:off x="2210875" y="150960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4" name="Google Shape;114;p20"/>
          <p:cNvCxnSpPr/>
          <p:nvPr/>
        </p:nvCxnSpPr>
        <p:spPr>
          <a:xfrm>
            <a:off x="2354225" y="118410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20"/>
          <p:cNvCxnSpPr/>
          <p:nvPr/>
        </p:nvCxnSpPr>
        <p:spPr>
          <a:xfrm>
            <a:off x="3262575" y="1230775"/>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6" name="Google Shape;116;p20"/>
          <p:cNvCxnSpPr/>
          <p:nvPr/>
        </p:nvCxnSpPr>
        <p:spPr>
          <a:xfrm>
            <a:off x="3409325" y="1230775"/>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7" name="Google Shape;117;p20"/>
          <p:cNvCxnSpPr/>
          <p:nvPr/>
        </p:nvCxnSpPr>
        <p:spPr>
          <a:xfrm>
            <a:off x="3463425" y="109115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8" name="Google Shape;118;p20"/>
          <p:cNvCxnSpPr/>
          <p:nvPr/>
        </p:nvCxnSpPr>
        <p:spPr>
          <a:xfrm>
            <a:off x="4274575" y="1029375"/>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19" name="Google Shape;119;p20"/>
          <p:cNvCxnSpPr/>
          <p:nvPr/>
        </p:nvCxnSpPr>
        <p:spPr>
          <a:xfrm>
            <a:off x="4428125" y="948025"/>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20" name="Google Shape;120;p20"/>
          <p:cNvCxnSpPr/>
          <p:nvPr/>
        </p:nvCxnSpPr>
        <p:spPr>
          <a:xfrm>
            <a:off x="4522350" y="858600"/>
            <a:ext cx="99300" cy="3255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20"/>
          <p:cNvCxnSpPr/>
          <p:nvPr/>
        </p:nvCxnSpPr>
        <p:spPr>
          <a:xfrm flipH="1">
            <a:off x="2603375" y="1355925"/>
            <a:ext cx="135600" cy="334500"/>
          </a:xfrm>
          <a:prstGeom prst="straightConnector1">
            <a:avLst/>
          </a:prstGeom>
          <a:noFill/>
          <a:ln cap="flat" cmpd="sng" w="9525">
            <a:solidFill>
              <a:schemeClr val="dk2"/>
            </a:solidFill>
            <a:prstDash val="solid"/>
            <a:round/>
            <a:headEnd len="med" w="med" type="none"/>
            <a:tailEnd len="med" w="med" type="triangle"/>
          </a:ln>
        </p:spPr>
      </p:cxnSp>
      <p:sp>
        <p:nvSpPr>
          <p:cNvPr id="122" name="Google Shape;122;p20"/>
          <p:cNvSpPr txBox="1"/>
          <p:nvPr/>
        </p:nvSpPr>
        <p:spPr>
          <a:xfrm>
            <a:off x="489525" y="4474675"/>
            <a:ext cx="2973900" cy="646500"/>
          </a:xfrm>
          <a:prstGeom prst="rect">
            <a:avLst/>
          </a:prstGeom>
          <a:noFill/>
          <a:ln>
            <a:noFill/>
          </a:ln>
        </p:spPr>
        <p:txBody>
          <a:bodyPr anchorCtr="0" anchor="t" bIns="91425" lIns="91425" spcFirstLastPara="1" rIns="91425" wrap="square" tIns="91425">
            <a:spAutoFit/>
          </a:bodyPr>
          <a:lstStyle/>
          <a:p>
            <a:pPr indent="-292100" lvl="0" marL="457200" rtl="1" algn="r">
              <a:spcBef>
                <a:spcPts val="0"/>
              </a:spcBef>
              <a:spcAft>
                <a:spcPts val="0"/>
              </a:spcAft>
              <a:buClr>
                <a:schemeClr val="dk2"/>
              </a:buClr>
              <a:buSzPts val="1000"/>
              <a:buChar char="●"/>
            </a:pPr>
            <a:r>
              <a:rPr lang="iw" sz="1000">
                <a:solidFill>
                  <a:schemeClr val="dk2"/>
                </a:solidFill>
              </a:rPr>
              <a:t>בגרף D.1 ניתן לראות שהסגמנט הדומיננטי ביותר הוא העסקי ואחריו הצרכני כאשר העסקים הפרטיים במקום האחרון </a:t>
            </a:r>
            <a:endParaRPr sz="10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1931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b="1" lang="iw">
                <a:solidFill>
                  <a:srgbClr val="674EA7"/>
                </a:solidFill>
              </a:rPr>
              <a:t>מסקנות</a:t>
            </a:r>
            <a:endParaRPr b="1">
              <a:solidFill>
                <a:srgbClr val="674EA7"/>
              </a:solidFill>
            </a:endParaRPr>
          </a:p>
        </p:txBody>
      </p:sp>
      <p:sp>
        <p:nvSpPr>
          <p:cNvPr id="128" name="Google Shape;128;p21"/>
          <p:cNvSpPr txBox="1"/>
          <p:nvPr>
            <p:ph idx="1" type="body"/>
          </p:nvPr>
        </p:nvSpPr>
        <p:spPr>
          <a:xfrm>
            <a:off x="311700" y="906850"/>
            <a:ext cx="8520600" cy="3662100"/>
          </a:xfrm>
          <a:prstGeom prst="rect">
            <a:avLst/>
          </a:prstGeom>
        </p:spPr>
        <p:txBody>
          <a:bodyPr anchorCtr="0" anchor="t" bIns="91425" lIns="91425" spcFirstLastPara="1" rIns="91425" wrap="square" tIns="91425">
            <a:normAutofit fontScale="25000" lnSpcReduction="20000"/>
          </a:bodyPr>
          <a:lstStyle/>
          <a:p>
            <a:pPr indent="0" lvl="0" marL="0" rtl="1" algn="r">
              <a:spcBef>
                <a:spcPts val="0"/>
              </a:spcBef>
              <a:spcAft>
                <a:spcPts val="0"/>
              </a:spcAft>
              <a:buNone/>
            </a:pPr>
            <a:r>
              <a:rPr lang="iw" sz="6199"/>
              <a:t>• תתי־הקטגוריות הרווחיות ביותר היו מוצרי ציפורניים, עפרונות עיניים ומוצרי לחות לפנים – עם רווח מצטבר של מאות אלפי דולרים.</a:t>
            </a:r>
            <a:endParaRPr sz="6199"/>
          </a:p>
          <a:p>
            <a:pPr indent="0" lvl="0" marL="0" rtl="1" algn="r">
              <a:spcBef>
                <a:spcPts val="1200"/>
              </a:spcBef>
              <a:spcAft>
                <a:spcPts val="0"/>
              </a:spcAft>
              <a:buNone/>
            </a:pPr>
            <a:r>
              <a:rPr lang="iw" sz="6199"/>
              <a:t>• אחוז קטן מהמוצרים אחראי לחלק גדול מהרווח – מה שמצביע על פוטנציאל להתייעלות דרך מיקוד במוצרים מובילים בלבד.</a:t>
            </a:r>
            <a:endParaRPr sz="6199"/>
          </a:p>
          <a:p>
            <a:pPr indent="0" lvl="0" marL="0" rtl="1" algn="r">
              <a:spcBef>
                <a:spcPts val="1200"/>
              </a:spcBef>
              <a:spcAft>
                <a:spcPts val="0"/>
              </a:spcAft>
              <a:buNone/>
            </a:pPr>
            <a:r>
              <a:rPr lang="iw" sz="6199"/>
              <a:t>• המדינות שהובילו ברווח המצטבר הן גם אלו שהובילו במספר ההזמנות – אך נמצאו גם מדינות קטנות עם רווח ממוצע להזמנה גבוה במיוחד.</a:t>
            </a:r>
            <a:endParaRPr sz="6199"/>
          </a:p>
          <a:p>
            <a:pPr indent="0" lvl="0" marL="0" rtl="1" algn="r">
              <a:spcBef>
                <a:spcPts val="1200"/>
              </a:spcBef>
              <a:spcAft>
                <a:spcPts val="0"/>
              </a:spcAft>
              <a:buNone/>
            </a:pPr>
            <a:r>
              <a:rPr lang="iw" sz="6199"/>
              <a:t>• פעילות הלקוחות בסגמנט העסקי תעשייתי (Corporate) הניבה רווח ממוצע להזמנה הגבוה ביותר – כ-78.8$ להזמנה – פי 3 מסגמנט הצרכני אף שהיא פי 2 פחות בכמות ההזמנות.</a:t>
            </a:r>
            <a:endParaRPr sz="6199"/>
          </a:p>
          <a:p>
            <a:pPr indent="0" lvl="0" marL="0" rtl="1" algn="r">
              <a:spcBef>
                <a:spcPts val="1200"/>
              </a:spcBef>
              <a:spcAft>
                <a:spcPts val="0"/>
              </a:spcAft>
              <a:buNone/>
            </a:pPr>
            <a:r>
              <a:rPr lang="iw" sz="6199"/>
              <a:t>• מגמת המכירות מצביעה על שיא בפעילות ורווח בחודשי ספטמבר, נובמבר ודצמבר, ככל הנראה כתוצאה מעונת החגים והמבצעים.</a:t>
            </a:r>
            <a:endParaRPr sz="6199"/>
          </a:p>
          <a:p>
            <a:pPr indent="0" lvl="0" marL="0" rtl="1" algn="r">
              <a:spcBef>
                <a:spcPts val="1200"/>
              </a:spcBef>
              <a:spcAft>
                <a:spcPts val="0"/>
              </a:spcAft>
              <a:buNone/>
            </a:pPr>
            <a:r>
              <a:t/>
            </a:r>
            <a:endParaRPr/>
          </a:p>
          <a:p>
            <a:pPr indent="0" lvl="0" marL="0" rtl="1" algn="r">
              <a:spcBef>
                <a:spcPts val="1200"/>
              </a:spcBef>
              <a:spcAft>
                <a:spcPts val="0"/>
              </a:spcAft>
              <a:buClr>
                <a:schemeClr val="dk1"/>
              </a:buClr>
              <a:buSzPct val="61111"/>
              <a:buFont typeface="Arial"/>
              <a:buNone/>
            </a:pPr>
            <a:r>
              <a:t/>
            </a:r>
            <a:endParaRPr/>
          </a:p>
          <a:p>
            <a:pPr indent="0" lvl="0" marL="0" rtl="1" algn="r">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b="1" lang="iw">
                <a:solidFill>
                  <a:srgbClr val="674EA7"/>
                </a:solidFill>
              </a:rPr>
              <a:t>הצעות פעולה</a:t>
            </a:r>
            <a:endParaRPr b="1">
              <a:solidFill>
                <a:srgbClr val="674EA7"/>
              </a:solidFill>
            </a:endParaRPr>
          </a:p>
        </p:txBody>
      </p:sp>
      <p:sp>
        <p:nvSpPr>
          <p:cNvPr id="134" name="Google Shape;13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32500" lnSpcReduction="20000"/>
          </a:bodyPr>
          <a:lstStyle/>
          <a:p>
            <a:pPr indent="0" lvl="0" marL="0" rtl="1" algn="r">
              <a:spcBef>
                <a:spcPts val="0"/>
              </a:spcBef>
              <a:spcAft>
                <a:spcPts val="0"/>
              </a:spcAft>
              <a:buNone/>
            </a:pPr>
            <a:r>
              <a:rPr lang="iw" sz="4978"/>
              <a:t>• למקד תקציבי שיווק ותצוגת מוצרים בתתי־הקטגוריות והמוצרים המובילים מבחינת רווח מצטבר.</a:t>
            </a:r>
            <a:endParaRPr sz="4978"/>
          </a:p>
          <a:p>
            <a:pPr indent="0" lvl="0" marL="0" rtl="1" algn="r">
              <a:spcBef>
                <a:spcPts val="1200"/>
              </a:spcBef>
              <a:spcAft>
                <a:spcPts val="0"/>
              </a:spcAft>
              <a:buNone/>
            </a:pPr>
            <a:r>
              <a:rPr lang="iw" sz="4978"/>
              <a:t>• להפסיק לקדם מוצרים ותתי־קטגוריות שמייצרות הפסדים או רווח מזערי או לבצע בהם התאמות תמחור ומיצוב.</a:t>
            </a:r>
            <a:endParaRPr sz="4978"/>
          </a:p>
          <a:p>
            <a:pPr indent="0" lvl="0" marL="0" rtl="1" algn="r">
              <a:spcBef>
                <a:spcPts val="1200"/>
              </a:spcBef>
              <a:spcAft>
                <a:spcPts val="0"/>
              </a:spcAft>
              <a:buNone/>
            </a:pPr>
            <a:r>
              <a:rPr lang="iw" sz="4978"/>
              <a:t>• להעמיק ניתוח במדינות עם רווח ממוצע להזמנה גבוה ולבחון בהן הזדמנויות חדירה והתרחבויות נוספות.</a:t>
            </a:r>
            <a:endParaRPr sz="4978"/>
          </a:p>
          <a:p>
            <a:pPr indent="0" lvl="0" marL="0" rtl="1" algn="r">
              <a:spcBef>
                <a:spcPts val="1200"/>
              </a:spcBef>
              <a:spcAft>
                <a:spcPts val="0"/>
              </a:spcAft>
              <a:buNone/>
            </a:pPr>
            <a:r>
              <a:rPr lang="iw" sz="4978"/>
              <a:t>• לפתח תכנית מועדון או הצעות בלעדיות ללקוחות עסקיים תעשייתיים הסגמנט הרווחי ביותר מבחינת רווח ממוצע להזמנה.</a:t>
            </a:r>
            <a:endParaRPr sz="4978"/>
          </a:p>
          <a:p>
            <a:pPr indent="0" lvl="0" marL="0" rtl="1" algn="r">
              <a:spcBef>
                <a:spcPts val="1200"/>
              </a:spcBef>
              <a:spcAft>
                <a:spcPts val="0"/>
              </a:spcAft>
              <a:buNone/>
            </a:pPr>
            <a:r>
              <a:rPr lang="iw" sz="4978"/>
              <a:t>• להיערך מראש לרבעון האחרון של השנה במלאי, לוגיסטיקה וקמפיינים ממוקדים בהתאם לעלייה במכירות בתקופה זו.</a:t>
            </a:r>
            <a:endParaRPr sz="4978"/>
          </a:p>
          <a:p>
            <a:pPr indent="0" lvl="0" marL="0" rtl="1" algn="r">
              <a:spcBef>
                <a:spcPts val="1200"/>
              </a:spcBef>
              <a:spcAft>
                <a:spcPts val="0"/>
              </a:spcAft>
              <a:buNone/>
            </a:pPr>
            <a:r>
              <a:t/>
            </a:r>
            <a:endParaRPr/>
          </a:p>
          <a:p>
            <a:pPr indent="0" lvl="0" marL="0" rtl="1" algn="r">
              <a:spcBef>
                <a:spcPts val="1200"/>
              </a:spcBef>
              <a:spcAft>
                <a:spcPts val="0"/>
              </a:spcAft>
              <a:buClr>
                <a:schemeClr val="dk1"/>
              </a:buClr>
              <a:buSzPct val="61111"/>
              <a:buFont typeface="Arial"/>
              <a:buNone/>
            </a:pPr>
            <a:r>
              <a:t/>
            </a:r>
            <a:endParaRPr/>
          </a:p>
          <a:p>
            <a:pPr indent="0" lvl="0" marL="0" rtl="1" algn="r">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